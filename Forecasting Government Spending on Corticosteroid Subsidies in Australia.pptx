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Anaheim"/>
      <p:regular r:id="rId23"/>
      <p:bold r:id="rId24"/>
    </p:embeddedFont>
    <p:embeddedFont>
      <p:font typeface="PT Sans"/>
      <p:regular r:id="rId25"/>
      <p:bold r:id="rId26"/>
      <p:italic r:id="rId27"/>
      <p:boldItalic r:id="rId28"/>
    </p:embeddedFont>
    <p:embeddedFont>
      <p:font typeface="Archivo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7A966C-2FC9-4F3A-8C9F-F1FE2D2149A6}">
  <a:tblStyle styleId="{297A966C-2FC9-4F3A-8C9F-F1FE2D214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Anaheim-bold.fntdata"/><Relationship Id="rId23" Type="http://schemas.openxmlformats.org/officeDocument/2006/relationships/font" Target="fonts/Anahei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TSans-bold.fntdata"/><Relationship Id="rId25" Type="http://schemas.openxmlformats.org/officeDocument/2006/relationships/font" Target="fonts/PTSans-regular.fntdata"/><Relationship Id="rId28" Type="http://schemas.openxmlformats.org/officeDocument/2006/relationships/font" Target="fonts/PTSans-boldItalic.fntdata"/><Relationship Id="rId27" Type="http://schemas.openxmlformats.org/officeDocument/2006/relationships/font" Target="fonts/PT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Archiv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Archivo-italic.fntdata"/><Relationship Id="rId30" Type="http://schemas.openxmlformats.org/officeDocument/2006/relationships/font" Target="fonts/Archivo-bold.fntdata"/><Relationship Id="rId11" Type="http://schemas.openxmlformats.org/officeDocument/2006/relationships/slide" Target="slides/slide4.xml"/><Relationship Id="rId33" Type="http://schemas.openxmlformats.org/officeDocument/2006/relationships/font" Target="fonts/OpenSans-regular.fntdata"/><Relationship Id="rId10" Type="http://schemas.openxmlformats.org/officeDocument/2006/relationships/slide" Target="slides/slide3.xml"/><Relationship Id="rId32" Type="http://schemas.openxmlformats.org/officeDocument/2006/relationships/font" Target="fonts/Archivo-boldItalic.fntdata"/><Relationship Id="rId13" Type="http://schemas.openxmlformats.org/officeDocument/2006/relationships/slide" Target="slides/slide6.xml"/><Relationship Id="rId35" Type="http://schemas.openxmlformats.org/officeDocument/2006/relationships/font" Target="fonts/OpenSans-italic.fntdata"/><Relationship Id="rId12" Type="http://schemas.openxmlformats.org/officeDocument/2006/relationships/slide" Target="slides/slide5.xml"/><Relationship Id="rId34" Type="http://schemas.openxmlformats.org/officeDocument/2006/relationships/font" Target="fonts/OpenSans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font" Target="fonts/Raleway-regular.fntdata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92a672447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92a672447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92a67244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92a67244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92a672447_2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92a672447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92a672447_2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92a672447_2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92a672447_2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92a672447_2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92a672447_2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92a672447_2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92a672447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92a672447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92a672447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92a672447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92a672447_2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92a672447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92a672447_2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92a672447_2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a92a67244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a92a67244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5658650" y="75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14"/>
          <p:cNvSpPr txBox="1"/>
          <p:nvPr>
            <p:ph type="ctrTitle"/>
          </p:nvPr>
        </p:nvSpPr>
        <p:spPr>
          <a:xfrm>
            <a:off x="0" y="906650"/>
            <a:ext cx="7084800" cy="2066700"/>
          </a:xfrm>
          <a:prstGeom prst="rect">
            <a:avLst/>
          </a:prstGeom>
          <a:solidFill>
            <a:srgbClr val="D6CCC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1" sz="4000"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713225" y="3495675"/>
            <a:ext cx="2721300" cy="732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2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/>
        </p:nvSpPr>
        <p:spPr>
          <a:xfrm>
            <a:off x="0" y="75"/>
            <a:ext cx="5003100" cy="287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3360875" y="2232350"/>
            <a:ext cx="5783100" cy="1912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hasCustomPrompt="1" idx="2" type="title"/>
          </p:nvPr>
        </p:nvSpPr>
        <p:spPr>
          <a:xfrm>
            <a:off x="3360875" y="1052400"/>
            <a:ext cx="1642200" cy="97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/>
        </p:nvSpPr>
        <p:spPr>
          <a:xfrm>
            <a:off x="6849750" y="-150"/>
            <a:ext cx="2294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720000" y="1215750"/>
            <a:ext cx="491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3699274" y="2650350"/>
            <a:ext cx="2505600" cy="14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2" type="subTitle"/>
          </p:nvPr>
        </p:nvSpPr>
        <p:spPr>
          <a:xfrm>
            <a:off x="720000" y="2650350"/>
            <a:ext cx="2505600" cy="14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3" type="subTitle"/>
          </p:nvPr>
        </p:nvSpPr>
        <p:spPr>
          <a:xfrm>
            <a:off x="720000" y="2113902"/>
            <a:ext cx="2505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0" name="Google Shape;70;p17"/>
          <p:cNvSpPr txBox="1"/>
          <p:nvPr>
            <p:ph idx="4" type="subTitle"/>
          </p:nvPr>
        </p:nvSpPr>
        <p:spPr>
          <a:xfrm>
            <a:off x="3699275" y="2113902"/>
            <a:ext cx="2505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/>
          <p:nvPr/>
        </p:nvSpPr>
        <p:spPr>
          <a:xfrm>
            <a:off x="7319600" y="-150"/>
            <a:ext cx="1824300" cy="35199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8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/>
        </p:nvSpPr>
        <p:spPr>
          <a:xfrm>
            <a:off x="5165625" y="2225550"/>
            <a:ext cx="3978300" cy="29178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9"/>
          <p:cNvSpPr txBox="1"/>
          <p:nvPr>
            <p:ph idx="1" type="subTitle"/>
          </p:nvPr>
        </p:nvSpPr>
        <p:spPr>
          <a:xfrm>
            <a:off x="720000" y="1366450"/>
            <a:ext cx="39783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78" name="Google Shape;78;p19"/>
          <p:cNvSpPr/>
          <p:nvPr>
            <p:ph idx="2" type="pic"/>
          </p:nvPr>
        </p:nvSpPr>
        <p:spPr>
          <a:xfrm>
            <a:off x="5643775" y="1100050"/>
            <a:ext cx="2787000" cy="3504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9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/>
          <p:nvPr/>
        </p:nvSpPr>
        <p:spPr>
          <a:xfrm>
            <a:off x="7088800" y="539500"/>
            <a:ext cx="20553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20"/>
          <p:cNvSpPr txBox="1"/>
          <p:nvPr>
            <p:ph type="title"/>
          </p:nvPr>
        </p:nvSpPr>
        <p:spPr>
          <a:xfrm>
            <a:off x="2217300" y="1838150"/>
            <a:ext cx="6926700" cy="1467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/>
          <p:nvPr>
            <p:ph type="title"/>
          </p:nvPr>
        </p:nvSpPr>
        <p:spPr>
          <a:xfrm>
            <a:off x="2473500" y="1189100"/>
            <a:ext cx="6670500" cy="1964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473500" y="3153500"/>
            <a:ext cx="36756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6" name="Google Shape;86;p21"/>
          <p:cNvSpPr/>
          <p:nvPr/>
        </p:nvSpPr>
        <p:spPr>
          <a:xfrm>
            <a:off x="0" y="100"/>
            <a:ext cx="2055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2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/>
          <p:nvPr/>
        </p:nvSpPr>
        <p:spPr>
          <a:xfrm>
            <a:off x="4843075" y="75"/>
            <a:ext cx="4301100" cy="357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0" y="1442700"/>
            <a:ext cx="6576000" cy="1628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subTitle"/>
          </p:nvPr>
        </p:nvSpPr>
        <p:spPr>
          <a:xfrm>
            <a:off x="713225" y="3275225"/>
            <a:ext cx="5862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/>
          <p:nvPr/>
        </p:nvSpPr>
        <p:spPr>
          <a:xfrm>
            <a:off x="6951825" y="-150"/>
            <a:ext cx="21921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25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hasCustomPrompt="1" idx="2" type="title"/>
          </p:nvPr>
        </p:nvSpPr>
        <p:spPr>
          <a:xfrm>
            <a:off x="720000" y="1468682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9" name="Google Shape;99;p25"/>
          <p:cNvSpPr txBox="1"/>
          <p:nvPr>
            <p:ph idx="1" type="subTitle"/>
          </p:nvPr>
        </p:nvSpPr>
        <p:spPr>
          <a:xfrm>
            <a:off x="1454700" y="1468672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0" name="Google Shape;100;p25"/>
          <p:cNvSpPr txBox="1"/>
          <p:nvPr>
            <p:ph hasCustomPrompt="1" idx="3" type="title"/>
          </p:nvPr>
        </p:nvSpPr>
        <p:spPr>
          <a:xfrm>
            <a:off x="720000" y="2026804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1454700" y="2026797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25"/>
          <p:cNvSpPr txBox="1"/>
          <p:nvPr>
            <p:ph hasCustomPrompt="1" idx="5" type="title"/>
          </p:nvPr>
        </p:nvSpPr>
        <p:spPr>
          <a:xfrm>
            <a:off x="720000" y="2584927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1454700" y="2584922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4" name="Google Shape;104;p25"/>
          <p:cNvSpPr txBox="1"/>
          <p:nvPr>
            <p:ph hasCustomPrompt="1" idx="7" type="title"/>
          </p:nvPr>
        </p:nvSpPr>
        <p:spPr>
          <a:xfrm>
            <a:off x="720000" y="3143052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25"/>
          <p:cNvSpPr txBox="1"/>
          <p:nvPr>
            <p:ph idx="8" type="subTitle"/>
          </p:nvPr>
        </p:nvSpPr>
        <p:spPr>
          <a:xfrm>
            <a:off x="1454700" y="3143047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" name="Google Shape;106;p25"/>
          <p:cNvSpPr txBox="1"/>
          <p:nvPr>
            <p:ph hasCustomPrompt="1" idx="9" type="title"/>
          </p:nvPr>
        </p:nvSpPr>
        <p:spPr>
          <a:xfrm>
            <a:off x="720000" y="3701177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25"/>
          <p:cNvSpPr txBox="1"/>
          <p:nvPr>
            <p:ph idx="13" type="subTitle"/>
          </p:nvPr>
        </p:nvSpPr>
        <p:spPr>
          <a:xfrm>
            <a:off x="1454700" y="3701172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8" name="Google Shape;108;p25"/>
          <p:cNvSpPr txBox="1"/>
          <p:nvPr>
            <p:ph hasCustomPrompt="1" idx="14" type="title"/>
          </p:nvPr>
        </p:nvSpPr>
        <p:spPr>
          <a:xfrm>
            <a:off x="720000" y="4259302"/>
            <a:ext cx="734700" cy="344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25"/>
          <p:cNvSpPr txBox="1"/>
          <p:nvPr>
            <p:ph idx="15" type="subTitle"/>
          </p:nvPr>
        </p:nvSpPr>
        <p:spPr>
          <a:xfrm>
            <a:off x="1454700" y="4259297"/>
            <a:ext cx="3035100" cy="3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/>
          <p:nvPr/>
        </p:nvSpPr>
        <p:spPr>
          <a:xfrm>
            <a:off x="0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7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/>
          <p:nvPr/>
        </p:nvSpPr>
        <p:spPr>
          <a:xfrm>
            <a:off x="7517425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8"/>
          <p:cNvSpPr txBox="1"/>
          <p:nvPr>
            <p:ph idx="1" type="subTitle"/>
          </p:nvPr>
        </p:nvSpPr>
        <p:spPr>
          <a:xfrm>
            <a:off x="2691350" y="1591947"/>
            <a:ext cx="4071900" cy="226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118" name="Google Shape;118;p28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/>
          <p:nvPr/>
        </p:nvSpPr>
        <p:spPr>
          <a:xfrm>
            <a:off x="-100" y="3606075"/>
            <a:ext cx="9144000" cy="1537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9"/>
          <p:cNvSpPr txBox="1"/>
          <p:nvPr>
            <p:ph idx="1" type="subTitle"/>
          </p:nvPr>
        </p:nvSpPr>
        <p:spPr>
          <a:xfrm flipH="1">
            <a:off x="713225" y="1243575"/>
            <a:ext cx="2402100" cy="11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9"/>
          <p:cNvSpPr/>
          <p:nvPr>
            <p:ph idx="2" type="pic"/>
          </p:nvPr>
        </p:nvSpPr>
        <p:spPr>
          <a:xfrm>
            <a:off x="6050850" y="1100050"/>
            <a:ext cx="2379900" cy="35043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9"/>
          <p:cNvSpPr/>
          <p:nvPr>
            <p:ph idx="3" type="pic"/>
          </p:nvPr>
        </p:nvSpPr>
        <p:spPr>
          <a:xfrm>
            <a:off x="4121325" y="1100050"/>
            <a:ext cx="1780500" cy="35043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9"/>
          <p:cNvSpPr/>
          <p:nvPr>
            <p:ph idx="4" type="pic"/>
          </p:nvPr>
        </p:nvSpPr>
        <p:spPr>
          <a:xfrm flipH="1">
            <a:off x="720075" y="2678900"/>
            <a:ext cx="3252300" cy="192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9"/>
          <p:cNvSpPr txBox="1"/>
          <p:nvPr>
            <p:ph type="title"/>
          </p:nvPr>
        </p:nvSpPr>
        <p:spPr>
          <a:xfrm>
            <a:off x="720000" y="398050"/>
            <a:ext cx="77109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/>
          <p:nvPr/>
        </p:nvSpPr>
        <p:spPr>
          <a:xfrm>
            <a:off x="5242425" y="-150"/>
            <a:ext cx="3901500" cy="16404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30"/>
          <p:cNvSpPr txBox="1"/>
          <p:nvPr>
            <p:ph idx="1" type="subTitle"/>
          </p:nvPr>
        </p:nvSpPr>
        <p:spPr>
          <a:xfrm>
            <a:off x="720000" y="2798600"/>
            <a:ext cx="2236500" cy="18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2" type="subTitle"/>
          </p:nvPr>
        </p:nvSpPr>
        <p:spPr>
          <a:xfrm>
            <a:off x="3338423" y="2798600"/>
            <a:ext cx="2236500" cy="18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0" name="Google Shape;130;p30"/>
          <p:cNvSpPr txBox="1"/>
          <p:nvPr>
            <p:ph idx="3" type="subTitle"/>
          </p:nvPr>
        </p:nvSpPr>
        <p:spPr>
          <a:xfrm>
            <a:off x="5956847" y="2798600"/>
            <a:ext cx="2236500" cy="18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1" name="Google Shape;131;p30"/>
          <p:cNvSpPr txBox="1"/>
          <p:nvPr>
            <p:ph idx="4" type="subTitle"/>
          </p:nvPr>
        </p:nvSpPr>
        <p:spPr>
          <a:xfrm>
            <a:off x="720000" y="2103375"/>
            <a:ext cx="22365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2" name="Google Shape;132;p30"/>
          <p:cNvSpPr txBox="1"/>
          <p:nvPr>
            <p:ph idx="5" type="subTitle"/>
          </p:nvPr>
        </p:nvSpPr>
        <p:spPr>
          <a:xfrm>
            <a:off x="3338419" y="2103375"/>
            <a:ext cx="22365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3" name="Google Shape;133;p30"/>
          <p:cNvSpPr txBox="1"/>
          <p:nvPr>
            <p:ph idx="6" type="subTitle"/>
          </p:nvPr>
        </p:nvSpPr>
        <p:spPr>
          <a:xfrm>
            <a:off x="5956838" y="2103375"/>
            <a:ext cx="22365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4" name="Google Shape;134;p30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/>
          <p:nvPr/>
        </p:nvSpPr>
        <p:spPr>
          <a:xfrm>
            <a:off x="0" y="-150"/>
            <a:ext cx="1626600" cy="51435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31"/>
          <p:cNvSpPr txBox="1"/>
          <p:nvPr>
            <p:ph idx="1" type="subTitle"/>
          </p:nvPr>
        </p:nvSpPr>
        <p:spPr>
          <a:xfrm>
            <a:off x="1800525" y="1735625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31"/>
          <p:cNvSpPr txBox="1"/>
          <p:nvPr>
            <p:ph idx="2" type="subTitle"/>
          </p:nvPr>
        </p:nvSpPr>
        <p:spPr>
          <a:xfrm>
            <a:off x="5314500" y="1735625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3" type="subTitle"/>
          </p:nvPr>
        </p:nvSpPr>
        <p:spPr>
          <a:xfrm>
            <a:off x="1800525" y="3396200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4" type="subTitle"/>
          </p:nvPr>
        </p:nvSpPr>
        <p:spPr>
          <a:xfrm>
            <a:off x="5314500" y="3396200"/>
            <a:ext cx="3109500" cy="12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5" type="subTitle"/>
          </p:nvPr>
        </p:nvSpPr>
        <p:spPr>
          <a:xfrm>
            <a:off x="1800526" y="12858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2" name="Google Shape;142;p31"/>
          <p:cNvSpPr txBox="1"/>
          <p:nvPr>
            <p:ph idx="6" type="subTitle"/>
          </p:nvPr>
        </p:nvSpPr>
        <p:spPr>
          <a:xfrm>
            <a:off x="1800526" y="29466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3" name="Google Shape;143;p31"/>
          <p:cNvSpPr txBox="1"/>
          <p:nvPr>
            <p:ph idx="7" type="subTitle"/>
          </p:nvPr>
        </p:nvSpPr>
        <p:spPr>
          <a:xfrm>
            <a:off x="5314475" y="12858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4" name="Google Shape;144;p31"/>
          <p:cNvSpPr txBox="1"/>
          <p:nvPr>
            <p:ph idx="8" type="subTitle"/>
          </p:nvPr>
        </p:nvSpPr>
        <p:spPr>
          <a:xfrm>
            <a:off x="5314475" y="2946675"/>
            <a:ext cx="31095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5" name="Google Shape;145;p31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2"/>
          <p:cNvSpPr/>
          <p:nvPr/>
        </p:nvSpPr>
        <p:spPr>
          <a:xfrm>
            <a:off x="6058450" y="-150"/>
            <a:ext cx="3085500" cy="2873700"/>
          </a:xfrm>
          <a:prstGeom prst="rect">
            <a:avLst/>
          </a:prstGeom>
          <a:solidFill>
            <a:srgbClr val="EDED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32"/>
          <p:cNvSpPr txBox="1"/>
          <p:nvPr>
            <p:ph idx="1" type="subTitle"/>
          </p:nvPr>
        </p:nvSpPr>
        <p:spPr>
          <a:xfrm>
            <a:off x="72000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9" name="Google Shape;149;p32"/>
          <p:cNvSpPr txBox="1"/>
          <p:nvPr>
            <p:ph idx="2" type="subTitle"/>
          </p:nvPr>
        </p:nvSpPr>
        <p:spPr>
          <a:xfrm>
            <a:off x="345525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3" type="subTitle"/>
          </p:nvPr>
        </p:nvSpPr>
        <p:spPr>
          <a:xfrm>
            <a:off x="72000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4" type="subTitle"/>
          </p:nvPr>
        </p:nvSpPr>
        <p:spPr>
          <a:xfrm>
            <a:off x="345525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5" type="subTitle"/>
          </p:nvPr>
        </p:nvSpPr>
        <p:spPr>
          <a:xfrm>
            <a:off x="6190500" y="1710160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6" type="subTitle"/>
          </p:nvPr>
        </p:nvSpPr>
        <p:spPr>
          <a:xfrm>
            <a:off x="6190500" y="3440454"/>
            <a:ext cx="22335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7" type="subTitle"/>
          </p:nvPr>
        </p:nvSpPr>
        <p:spPr>
          <a:xfrm>
            <a:off x="720000" y="1336275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5" name="Google Shape;155;p32"/>
          <p:cNvSpPr txBox="1"/>
          <p:nvPr>
            <p:ph idx="8" type="subTitle"/>
          </p:nvPr>
        </p:nvSpPr>
        <p:spPr>
          <a:xfrm>
            <a:off x="3455250" y="1336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6" name="Google Shape;156;p32"/>
          <p:cNvSpPr txBox="1"/>
          <p:nvPr>
            <p:ph idx="9" type="subTitle"/>
          </p:nvPr>
        </p:nvSpPr>
        <p:spPr>
          <a:xfrm>
            <a:off x="6190500" y="1336275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7" name="Google Shape;157;p32"/>
          <p:cNvSpPr txBox="1"/>
          <p:nvPr>
            <p:ph idx="13" type="subTitle"/>
          </p:nvPr>
        </p:nvSpPr>
        <p:spPr>
          <a:xfrm>
            <a:off x="720000" y="3063351"/>
            <a:ext cx="22335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8" name="Google Shape;158;p32"/>
          <p:cNvSpPr txBox="1"/>
          <p:nvPr>
            <p:ph idx="14" type="subTitle"/>
          </p:nvPr>
        </p:nvSpPr>
        <p:spPr>
          <a:xfrm>
            <a:off x="3455250" y="306335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9" name="Google Shape;159;p32"/>
          <p:cNvSpPr txBox="1"/>
          <p:nvPr>
            <p:ph idx="15" type="subTitle"/>
          </p:nvPr>
        </p:nvSpPr>
        <p:spPr>
          <a:xfrm>
            <a:off x="6190500" y="3063356"/>
            <a:ext cx="22311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0" name="Google Shape;160;p32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  <a:solidFill>
            <a:srgbClr val="D6CCC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bg>
      <p:bgPr>
        <a:solidFill>
          <a:schemeClr val="dk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/>
        </p:nvSpPr>
        <p:spPr>
          <a:xfrm>
            <a:off x="6182100" y="-150"/>
            <a:ext cx="2962200" cy="460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33"/>
          <p:cNvSpPr txBox="1"/>
          <p:nvPr>
            <p:ph hasCustomPrompt="1" type="title"/>
          </p:nvPr>
        </p:nvSpPr>
        <p:spPr>
          <a:xfrm>
            <a:off x="2077174" y="3316475"/>
            <a:ext cx="7067100" cy="7689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" name="Google Shape;164;p33"/>
          <p:cNvSpPr txBox="1"/>
          <p:nvPr>
            <p:ph idx="1" type="subTitle"/>
          </p:nvPr>
        </p:nvSpPr>
        <p:spPr>
          <a:xfrm>
            <a:off x="2077174" y="4227800"/>
            <a:ext cx="40950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5" name="Google Shape;165;p33"/>
          <p:cNvSpPr txBox="1"/>
          <p:nvPr>
            <p:ph hasCustomPrompt="1" idx="2" type="title"/>
          </p:nvPr>
        </p:nvSpPr>
        <p:spPr>
          <a:xfrm>
            <a:off x="2077174" y="539500"/>
            <a:ext cx="7067100" cy="7689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33"/>
          <p:cNvSpPr txBox="1"/>
          <p:nvPr>
            <p:ph idx="3" type="subTitle"/>
          </p:nvPr>
        </p:nvSpPr>
        <p:spPr>
          <a:xfrm>
            <a:off x="2077174" y="1450800"/>
            <a:ext cx="40950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7" name="Google Shape;167;p33"/>
          <p:cNvSpPr txBox="1"/>
          <p:nvPr>
            <p:ph hasCustomPrompt="1" idx="4" type="title"/>
          </p:nvPr>
        </p:nvSpPr>
        <p:spPr>
          <a:xfrm>
            <a:off x="2077174" y="1927988"/>
            <a:ext cx="7067100" cy="768900"/>
          </a:xfrm>
          <a:prstGeom prst="rect">
            <a:avLst/>
          </a:prstGeom>
          <a:solidFill>
            <a:schemeClr val="lt2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33"/>
          <p:cNvSpPr txBox="1"/>
          <p:nvPr>
            <p:ph idx="5" type="subTitle"/>
          </p:nvPr>
        </p:nvSpPr>
        <p:spPr>
          <a:xfrm>
            <a:off x="2077174" y="2839300"/>
            <a:ext cx="4095000" cy="3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solidFill>
          <a:schemeClr val="dk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/>
        </p:nvSpPr>
        <p:spPr>
          <a:xfrm>
            <a:off x="713225" y="3678562"/>
            <a:ext cx="32577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1000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1" name="Google Shape;171;p34"/>
          <p:cNvSpPr/>
          <p:nvPr/>
        </p:nvSpPr>
        <p:spPr>
          <a:xfrm>
            <a:off x="5209450" y="75"/>
            <a:ext cx="3934500" cy="389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34"/>
          <p:cNvSpPr txBox="1"/>
          <p:nvPr>
            <p:ph idx="1" type="subTitle"/>
          </p:nvPr>
        </p:nvSpPr>
        <p:spPr>
          <a:xfrm>
            <a:off x="713225" y="2360475"/>
            <a:ext cx="3257700" cy="1137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34"/>
          <p:cNvSpPr txBox="1"/>
          <p:nvPr>
            <p:ph type="title"/>
          </p:nvPr>
        </p:nvSpPr>
        <p:spPr>
          <a:xfrm>
            <a:off x="713225" y="863650"/>
            <a:ext cx="8430900" cy="13476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5"/>
          <p:cNvSpPr/>
          <p:nvPr/>
        </p:nvSpPr>
        <p:spPr>
          <a:xfrm>
            <a:off x="0" y="75"/>
            <a:ext cx="5003100" cy="4604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/>
          <p:nvPr/>
        </p:nvSpPr>
        <p:spPr>
          <a:xfrm>
            <a:off x="0" y="915000"/>
            <a:ext cx="3485400" cy="4228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"/>
              <a:buNone/>
              <a:defRPr b="1" sz="3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7"/>
          <p:cNvSpPr txBox="1"/>
          <p:nvPr>
            <p:ph type="ctrTitle"/>
          </p:nvPr>
        </p:nvSpPr>
        <p:spPr>
          <a:xfrm>
            <a:off x="0" y="744225"/>
            <a:ext cx="7444500" cy="26127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Forecasting Government Spending on Corticosteroid Subsidies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 Australia</a:t>
            </a:r>
            <a:endParaRPr/>
          </a:p>
        </p:txBody>
      </p:sp>
      <p:sp>
        <p:nvSpPr>
          <p:cNvPr id="183" name="Google Shape;183;p37"/>
          <p:cNvSpPr txBox="1"/>
          <p:nvPr>
            <p:ph idx="1" type="subTitle"/>
          </p:nvPr>
        </p:nvSpPr>
        <p:spPr>
          <a:xfrm>
            <a:off x="821525" y="3613000"/>
            <a:ext cx="2721300" cy="7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Fola Wu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8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89" name="Google Shape;189;p38"/>
          <p:cNvSpPr txBox="1"/>
          <p:nvPr>
            <p:ph idx="1" type="subTitle"/>
          </p:nvPr>
        </p:nvSpPr>
        <p:spPr>
          <a:xfrm>
            <a:off x="720000" y="1429500"/>
            <a:ext cx="6724500" cy="25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How will government spending on corticosteroid subsidies evolve, and what are the implications for healthcare budgeting and policy planning?</a:t>
            </a:r>
            <a:endParaRPr sz="1600">
              <a:solidFill>
                <a:srgbClr val="000000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Why This Matters</a:t>
            </a:r>
            <a:endParaRPr b="1" sz="1600">
              <a:solidFill>
                <a:srgbClr val="000000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Accurate forecasts help allocate healthcare funding efficiently, prevent budget overruns, and ensure continued access to essential corticosteroid medications.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9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Summary</a:t>
            </a:r>
            <a:endParaRPr/>
          </a:p>
        </p:txBody>
      </p:sp>
      <p:sp>
        <p:nvSpPr>
          <p:cNvPr id="195" name="Google Shape;195;p39"/>
          <p:cNvSpPr txBox="1"/>
          <p:nvPr>
            <p:ph idx="4294967295" type="subTitle"/>
          </p:nvPr>
        </p:nvSpPr>
        <p:spPr>
          <a:xfrm>
            <a:off x="821525" y="1681925"/>
            <a:ext cx="7796100" cy="29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Monthly government expenditure on corticosteroid drugs (H02 category)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Pharmaceutical Benefits Scheme (PBS)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July 1991 – June 2008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204 monthly observations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Unit: millions of AUD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Source: Medicare Australia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40" title="Screenshot 2025-11-24 at 3.20.23 AM.png"/>
          <p:cNvPicPr preferRelativeResize="0"/>
          <p:nvPr/>
        </p:nvPicPr>
        <p:blipFill rotWithShape="1">
          <a:blip r:embed="rId3">
            <a:alphaModFix/>
          </a:blip>
          <a:srcRect b="0" l="0" r="7140" t="0"/>
          <a:stretch/>
        </p:blipFill>
        <p:spPr>
          <a:xfrm>
            <a:off x="79300" y="1273550"/>
            <a:ext cx="5163452" cy="368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0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Trend Observations</a:t>
            </a:r>
            <a:endParaRPr/>
          </a:p>
        </p:txBody>
      </p:sp>
      <p:sp>
        <p:nvSpPr>
          <p:cNvPr id="202" name="Google Shape;202;p40"/>
          <p:cNvSpPr txBox="1"/>
          <p:nvPr/>
        </p:nvSpPr>
        <p:spPr>
          <a:xfrm>
            <a:off x="5308800" y="2102500"/>
            <a:ext cx="3835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Char char="●"/>
            </a:pPr>
            <a:r>
              <a:rPr lang="en">
                <a:latin typeface="Archivo"/>
                <a:ea typeface="Archivo"/>
                <a:cs typeface="Archivo"/>
                <a:sym typeface="Archivo"/>
              </a:rPr>
              <a:t>Long-term upward spending trend</a:t>
            </a:r>
            <a:endParaRPr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Char char="●"/>
            </a:pPr>
            <a:r>
              <a:rPr lang="en">
                <a:latin typeface="Archivo"/>
                <a:ea typeface="Archivo"/>
                <a:cs typeface="Archivo"/>
                <a:sym typeface="Archivo"/>
              </a:rPr>
              <a:t>Clear seasonal peaks (winter months)</a:t>
            </a:r>
            <a:endParaRPr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Char char="●"/>
            </a:pPr>
            <a:r>
              <a:rPr lang="en">
                <a:latin typeface="Archivo"/>
                <a:ea typeface="Archivo"/>
                <a:cs typeface="Archivo"/>
                <a:sym typeface="Archivo"/>
              </a:rPr>
              <a:t>Noticeable acceleration after 2002</a:t>
            </a:r>
            <a:endParaRPr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Char char="●"/>
            </a:pPr>
            <a:r>
              <a:rPr lang="en">
                <a:latin typeface="Archivo"/>
                <a:ea typeface="Archivo"/>
                <a:cs typeface="Archivo"/>
                <a:sym typeface="Archivo"/>
              </a:rPr>
              <a:t>Occasional policy-related shifts</a:t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1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Evaluated</a:t>
            </a:r>
            <a:endParaRPr/>
          </a:p>
        </p:txBody>
      </p:sp>
      <p:pic>
        <p:nvPicPr>
          <p:cNvPr id="208" name="Google Shape;208;p41" title="Screenshot 2025-11-24 at 4.30.0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5775" y="1166500"/>
            <a:ext cx="2924360" cy="195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1" title="Screenshot 2025-11-24 at 4.29.2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6375" y="3120382"/>
            <a:ext cx="3020000" cy="1953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1" title="Screenshot 2025-11-24 at 4.06.14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025" y="1195950"/>
            <a:ext cx="3020000" cy="189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1" title="Screenshot 2025-11-24 at 5.35.13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8775" y="3167325"/>
            <a:ext cx="3475026" cy="1823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1" title="Screenshot 2025-11-24 at 4.40.41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5275" y="1195950"/>
            <a:ext cx="3108327" cy="18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2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 Summary</a:t>
            </a:r>
            <a:endParaRPr/>
          </a:p>
        </p:txBody>
      </p:sp>
      <p:graphicFrame>
        <p:nvGraphicFramePr>
          <p:cNvPr id="218" name="Google Shape;218;p42"/>
          <p:cNvGraphicFramePr/>
          <p:nvPr/>
        </p:nvGraphicFramePr>
        <p:xfrm>
          <a:off x="719963" y="1314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{297A966C-2FC9-4F3A-8C9F-F1FE2D2149A6}</a:tableStyleId>
              </a:tblPr>
              <a:tblGrid>
                <a:gridCol w="1106050"/>
                <a:gridCol w="942550"/>
                <a:gridCol w="942550"/>
                <a:gridCol w="942550"/>
                <a:gridCol w="942550"/>
                <a:gridCol w="942550"/>
                <a:gridCol w="942550"/>
                <a:gridCol w="942550"/>
              </a:tblGrid>
              <a:tr h="45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RMSE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MPE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MAPE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MASE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ACF1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Naive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0.0016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0.1558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0.0978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-2.2240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14.6856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1.6140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-0.1028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MA9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-0.0015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0.0099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0.0078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-0.2061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1.0524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0.1874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0.4521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SES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0.0019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0.1545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0.0951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-2.4058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14.2212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1.5683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0.0071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HW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-0.0051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0.0556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0.0421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-1.3386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5.5228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0.6938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-0.0482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ARIMA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-0.0005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0.1757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0.1173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-1.6799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17.7633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1.1994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-0.0185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3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Selected Holt-Winter</a:t>
            </a:r>
            <a:endParaRPr/>
          </a:p>
        </p:txBody>
      </p:sp>
      <p:sp>
        <p:nvSpPr>
          <p:cNvPr id="224" name="Google Shape;224;p43"/>
          <p:cNvSpPr txBox="1"/>
          <p:nvPr/>
        </p:nvSpPr>
        <p:spPr>
          <a:xfrm>
            <a:off x="1818550" y="1544675"/>
            <a:ext cx="5923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chivo"/>
              <a:buChar char="●"/>
            </a:pPr>
            <a:r>
              <a:rPr lang="en">
                <a:latin typeface="Archivo"/>
                <a:ea typeface="Archivo"/>
                <a:cs typeface="Archivo"/>
                <a:sym typeface="Archivo"/>
              </a:rPr>
              <a:t>Captures both trend and strong seasonal patterns</a:t>
            </a:r>
            <a:endParaRPr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Char char="●"/>
            </a:pPr>
            <a:r>
              <a:rPr lang="en">
                <a:latin typeface="Archivo"/>
                <a:ea typeface="Archivo"/>
                <a:cs typeface="Archivo"/>
                <a:sym typeface="Archivo"/>
              </a:rPr>
              <a:t>Produces realistic forward forecasts</a:t>
            </a:r>
            <a:endParaRPr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Char char="●"/>
            </a:pPr>
            <a:r>
              <a:rPr lang="en">
                <a:latin typeface="Archivo"/>
                <a:ea typeface="Archivo"/>
                <a:cs typeface="Archivo"/>
                <a:sym typeface="Archivo"/>
              </a:rPr>
              <a:t>More suitable for budgeting and policy planning</a:t>
            </a:r>
            <a:endParaRPr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chivo"/>
              <a:buChar char="●"/>
            </a:pPr>
            <a:r>
              <a:rPr lang="en">
                <a:latin typeface="Archivo"/>
                <a:ea typeface="Archivo"/>
                <a:cs typeface="Archivo"/>
                <a:sym typeface="Archivo"/>
              </a:rPr>
              <a:t>More stable than ARIMA and avoids forecast flattening seen in MA models</a:t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225" name="Google Shape;225;p43"/>
          <p:cNvGraphicFramePr/>
          <p:nvPr/>
        </p:nvGraphicFramePr>
        <p:xfrm>
          <a:off x="783138" y="34887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{297A966C-2FC9-4F3A-8C9F-F1FE2D2149A6}</a:tableStyleId>
              </a:tblPr>
              <a:tblGrid>
                <a:gridCol w="1106050"/>
                <a:gridCol w="942550"/>
                <a:gridCol w="942550"/>
                <a:gridCol w="942550"/>
                <a:gridCol w="942550"/>
                <a:gridCol w="942550"/>
                <a:gridCol w="942550"/>
                <a:gridCol w="942550"/>
              </a:tblGrid>
              <a:tr h="47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RMSE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MPE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MAPE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MASE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ACF1</a:t>
                      </a:r>
                      <a:endParaRPr b="1" sz="16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68575" marB="68575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MA9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-0.0015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0.0099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0.0078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-0.2061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1.0524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0.1874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0.4521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7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HW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91425" marL="91425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-0.0051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0.0556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0.0421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-1.3386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5.5228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0.6938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3333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-0.0482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4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Forecast Results</a:t>
            </a:r>
            <a:endParaRPr/>
          </a:p>
        </p:txBody>
      </p:sp>
      <p:pic>
        <p:nvPicPr>
          <p:cNvPr id="231" name="Google Shape;231;p44" title="Screenshot 2025-11-24 at 6.28.43 AM.png"/>
          <p:cNvPicPr preferRelativeResize="0"/>
          <p:nvPr/>
        </p:nvPicPr>
        <p:blipFill rotWithShape="1">
          <a:blip r:embed="rId3">
            <a:alphaModFix/>
          </a:blip>
          <a:srcRect b="3855" l="0" r="0" t="0"/>
          <a:stretch/>
        </p:blipFill>
        <p:spPr>
          <a:xfrm>
            <a:off x="4710475" y="3251487"/>
            <a:ext cx="3022551" cy="1834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44" title="Screenshot 2025-11-24 at 6.28.3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974" y="3134162"/>
            <a:ext cx="3051045" cy="19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4" title="Screenshot 2025-11-24 at 6.28.22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7050" y="1257225"/>
            <a:ext cx="3145974" cy="19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4" title="Screenshot 2025-11-24 at 6.28.13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1976" y="1148873"/>
            <a:ext cx="2961085" cy="2014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5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240" name="Google Shape;240;p45"/>
          <p:cNvSpPr txBox="1"/>
          <p:nvPr/>
        </p:nvSpPr>
        <p:spPr>
          <a:xfrm>
            <a:off x="884325" y="1885950"/>
            <a:ext cx="6885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Archivo"/>
              <a:buChar char="●"/>
            </a:pPr>
            <a:r>
              <a:rPr lang="en" sz="1600">
                <a:latin typeface="Archivo"/>
                <a:ea typeface="Archivo"/>
                <a:cs typeface="Archivo"/>
                <a:sym typeface="Archivo"/>
              </a:rPr>
              <a:t>Increase budget allocation for projected spending growth</a:t>
            </a:r>
            <a:br>
              <a:rPr lang="en" sz="1600">
                <a:latin typeface="Archivo"/>
                <a:ea typeface="Archivo"/>
                <a:cs typeface="Archivo"/>
                <a:sym typeface="Archivo"/>
              </a:rPr>
            </a:br>
            <a:endParaRPr sz="1600"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vo"/>
              <a:buChar char="●"/>
            </a:pPr>
            <a:r>
              <a:rPr lang="en" sz="1600">
                <a:latin typeface="Archivo"/>
                <a:ea typeface="Archivo"/>
                <a:cs typeface="Archivo"/>
                <a:sym typeface="Archivo"/>
              </a:rPr>
              <a:t>Review pricing and reimbursement policies for corticosteroid products</a:t>
            </a:r>
            <a:br>
              <a:rPr lang="en" sz="1600">
                <a:latin typeface="Archivo"/>
                <a:ea typeface="Archivo"/>
                <a:cs typeface="Archivo"/>
                <a:sym typeface="Archivo"/>
              </a:rPr>
            </a:br>
            <a:endParaRPr sz="1600">
              <a:latin typeface="Archivo"/>
              <a:ea typeface="Archivo"/>
              <a:cs typeface="Archivo"/>
              <a:sym typeface="Archivo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>
                <a:latin typeface="Archivo"/>
                <a:ea typeface="Archivo"/>
                <a:cs typeface="Archivo"/>
                <a:sym typeface="Archivo"/>
              </a:rPr>
              <a:t>Monitor monthly spending to detect cost or policy-driven shifts early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6"/>
          <p:cNvSpPr txBox="1"/>
          <p:nvPr>
            <p:ph type="title"/>
          </p:nvPr>
        </p:nvSpPr>
        <p:spPr>
          <a:xfrm>
            <a:off x="720000" y="398050"/>
            <a:ext cx="77040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46" name="Google Shape;246;p46"/>
          <p:cNvSpPr txBox="1"/>
          <p:nvPr/>
        </p:nvSpPr>
        <p:spPr>
          <a:xfrm>
            <a:off x="929450" y="1822775"/>
            <a:ext cx="6966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vo"/>
              <a:buChar char="●"/>
            </a:pPr>
            <a:r>
              <a:rPr lang="en" sz="1600">
                <a:latin typeface="Archivo"/>
                <a:ea typeface="Archivo"/>
                <a:cs typeface="Archivo"/>
                <a:sym typeface="Archivo"/>
              </a:rPr>
              <a:t>Spending shows a rising trend with strong seasonal patterns</a:t>
            </a:r>
            <a:br>
              <a:rPr lang="en" sz="1600">
                <a:latin typeface="Archivo"/>
                <a:ea typeface="Archivo"/>
                <a:cs typeface="Archivo"/>
                <a:sym typeface="Archivo"/>
              </a:rPr>
            </a:br>
            <a:endParaRPr sz="1600"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vo"/>
              <a:buChar char="●"/>
            </a:pPr>
            <a:r>
              <a:rPr lang="en" sz="1600">
                <a:latin typeface="Archivo"/>
                <a:ea typeface="Archivo"/>
                <a:cs typeface="Archivo"/>
                <a:sym typeface="Archivo"/>
              </a:rPr>
              <a:t>Holt–Winters provides the most realistic forward forecast</a:t>
            </a:r>
            <a:br>
              <a:rPr lang="en" sz="1600">
                <a:latin typeface="Archivo"/>
                <a:ea typeface="Archivo"/>
                <a:cs typeface="Archivo"/>
                <a:sym typeface="Archivo"/>
              </a:rPr>
            </a:br>
            <a:endParaRPr sz="1600">
              <a:latin typeface="Archivo"/>
              <a:ea typeface="Archivo"/>
              <a:cs typeface="Archivo"/>
              <a:sym typeface="Archivo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chivo"/>
              <a:buChar char="●"/>
            </a:pPr>
            <a:r>
              <a:rPr lang="en" sz="1600">
                <a:latin typeface="Archivo"/>
                <a:ea typeface="Archivo"/>
                <a:cs typeface="Archivo"/>
                <a:sym typeface="Archivo"/>
              </a:rPr>
              <a:t>Increasing budget pressure highlights the need for proactive planning</a:t>
            </a:r>
            <a:endParaRPr sz="16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7"/>
          <p:cNvSpPr txBox="1"/>
          <p:nvPr>
            <p:ph type="title"/>
          </p:nvPr>
        </p:nvSpPr>
        <p:spPr>
          <a:xfrm>
            <a:off x="0" y="1442700"/>
            <a:ext cx="6576000" cy="1628400"/>
          </a:xfrm>
          <a:prstGeom prst="rect">
            <a:avLst/>
          </a:prstGeom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>
            <a:off x="848575" y="3275225"/>
            <a:ext cx="5862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</a:t>
            </a:r>
            <a:r>
              <a:rPr b="1" lang="en" sz="2000"/>
              <a:t>ny questions?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cial Market Economy Proposal by Slidesgo">
  <a:themeElements>
    <a:clrScheme name="Simple Light">
      <a:dk1>
        <a:srgbClr val="191919"/>
      </a:dk1>
      <a:lt1>
        <a:srgbClr val="FFFFFF"/>
      </a:lt1>
      <a:dk2>
        <a:srgbClr val="EDEDE9"/>
      </a:dk2>
      <a:lt2>
        <a:srgbClr val="D6CC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